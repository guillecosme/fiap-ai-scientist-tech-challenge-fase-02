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148840"/>
            <a:ext cx="1828800" cy="54864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Pipeline Hibrido de Alfabetizacao no Brasil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E5E5E5"/>
                </a:solidFill>
                <a:latin typeface="Calibri"/>
              </a:rPr>
              <a:t>Integrando dados publicos para apoiar politicas de alfabetizacao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5E5E5"/>
                </a:solidFill>
                <a:latin typeface="Calibri"/>
              </a:rPr>
              <a:t>Tech Challenge Fase 2  |  MBA AI Scientist (FIAP / POSTECH)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D145B"/>
                </a:solidFill>
                <a:latin typeface="Calibri"/>
              </a:rPr>
              <a:t>Guilherme Cosme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A1A1A"/>
                </a:solidFill>
                <a:latin typeface="Calibri"/>
              </a:rPr>
              <a:t>O problema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52728"/>
            <a:ext cx="1280160" cy="54864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612648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A alfabetizacao ate o final do 2o ano e um marco do desenvolvimento educacional. O pais tem uma meta clara para acompanhar esse direito.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O Indicador Crianca Alfabetizada mede o percentual de criancas que atingem o nivel de leitura esperado. Sozinho, ele mostra onde estamos, mas nao explica o porque nem ajuda a agir.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Para isso, e preciso juntar fontes que hoje vivem separadas: metas, territorios e desempenho dos alunos.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0" y="1645920"/>
            <a:ext cx="4297680" cy="1828800"/>
          </a:xfrm>
          <a:prstGeom prst="round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0" y="1874519"/>
            <a:ext cx="39319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6000" b="1">
                <a:solidFill>
                  <a:srgbClr val="ED145B"/>
                </a:solidFill>
                <a:latin typeface="Calibri"/>
              </a:rPr>
              <a:t>743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pontos no Saeb: o corte que define uma crianca alfabetizada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60" y="3749039"/>
            <a:ext cx="4297680" cy="1828800"/>
          </a:xfrm>
          <a:prstGeom prst="round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0" y="3977639"/>
            <a:ext cx="39319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6000" b="1">
                <a:solidFill>
                  <a:srgbClr val="1A1A1A"/>
                </a:solidFill>
                <a:latin typeface="Calibri"/>
              </a:rPr>
              <a:t>2030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meta para todas as criancas alfabetizadas ao fim do 2o ano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A1A1A"/>
                </a:solidFill>
                <a:latin typeface="Calibri"/>
              </a:rPr>
              <a:t>O dado certo, hoje, esta espalhado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52728"/>
            <a:ext cx="1280160" cy="54864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560320" cy="2103120"/>
          </a:xfrm>
          <a:prstGeom prst="round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" y="2057400"/>
            <a:ext cx="640080" cy="64008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UF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80360"/>
            <a:ext cx="21945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1A1A1A"/>
                </a:solidFill>
                <a:latin typeface="Calibri"/>
              </a:rPr>
              <a:t>Unidades da federacao e regioes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828800"/>
            <a:ext cx="2560320" cy="2103120"/>
          </a:xfrm>
          <a:prstGeom prst="round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389120" y="2057400"/>
            <a:ext cx="640080" cy="64008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MUN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2880360"/>
            <a:ext cx="21945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1A1A1A"/>
                </a:solidFill>
                <a:latin typeface="Calibri"/>
              </a:rPr>
              <a:t>Municipios e vinculo com a UF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828800"/>
            <a:ext cx="2560320" cy="2103120"/>
          </a:xfrm>
          <a:prstGeom prst="round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178040" y="2057400"/>
            <a:ext cx="640080" cy="64008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META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880360"/>
            <a:ext cx="21945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1A1A1A"/>
                </a:solidFill>
                <a:latin typeface="Calibri"/>
              </a:rPr>
              <a:t>Metas nacional, por UF e por municipio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39" y="1828800"/>
            <a:ext cx="2560320" cy="2103120"/>
          </a:xfrm>
          <a:prstGeom prst="round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66959" y="2057400"/>
            <a:ext cx="640080" cy="64008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9719" y="2880360"/>
            <a:ext cx="21945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1A1A1A"/>
                </a:solidFill>
                <a:latin typeface="Calibri"/>
              </a:rPr>
              <a:t>Desempenho dos alunos por rede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389120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Integradas, essas fontes deixam de ser numeros soltos e passam a responder onde concentrar esforco, onde estao as maiores desigualdades e o que esta melhorando ao longo do tempo.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A solucao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52728"/>
            <a:ext cx="1280160" cy="54864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>
                <a:solidFill>
                  <a:srgbClr val="E5E5E5"/>
                </a:solidFill>
                <a:latin typeface="Calibri"/>
              </a:rPr>
              <a:t>Uma pipeline de dados que integra essas fontes de forma automatica, confiavel e barata, na nuvem.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43200"/>
            <a:ext cx="2560320" cy="2468880"/>
          </a:xfrm>
          <a:prstGeom prst="round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91639" y="3017520"/>
            <a:ext cx="457200" cy="45720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703320"/>
            <a:ext cx="2103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Hibrida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E5E5E5"/>
                </a:solidFill>
                <a:latin typeface="Calibri"/>
              </a:rPr>
              <a:t>Ingestao em lote e em tempo quase real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2743200"/>
            <a:ext cx="2560320" cy="2468880"/>
          </a:xfrm>
          <a:prstGeom prst="round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80560" y="3017520"/>
            <a:ext cx="457200" cy="45720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3703320"/>
            <a:ext cx="2103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Medalhao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E5E5E5"/>
                </a:solidFill>
                <a:latin typeface="Calibri"/>
              </a:rPr>
              <a:t>Camadas de bruto, tratado e analitico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743200"/>
            <a:ext cx="2560320" cy="2468880"/>
          </a:xfrm>
          <a:prstGeom prst="round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269479" y="3017520"/>
            <a:ext cx="457200" cy="45720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3703320"/>
            <a:ext cx="2103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Serverless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E5E5E5"/>
                </a:solidFill>
                <a:latin typeface="Calibri"/>
              </a:rPr>
              <a:t>Paga pelo uso, sobe e destroi em minutos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6839" y="2743200"/>
            <a:ext cx="2560320" cy="2468880"/>
          </a:xfrm>
          <a:prstGeom prst="round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58399" y="3017520"/>
            <a:ext cx="457200" cy="45720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39" y="3703320"/>
            <a:ext cx="2103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Governada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E5E5E5"/>
                </a:solidFill>
                <a:latin typeface="Calibri"/>
              </a:rPr>
              <a:t>Qualidade validada a cada rodada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A1A1A"/>
                </a:solidFill>
                <a:latin typeface="Calibri"/>
              </a:rPr>
              <a:t>Arquitetura da solucao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069848"/>
            <a:ext cx="1280160" cy="54864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rquitetura_fas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051560"/>
            <a:ext cx="11521440" cy="58120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909304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Bronze bruto, Silver limpo e integrado, Gold analitico em star schema; batch e streaming na entrada, Athena, BI e ML na saida.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A1A1A"/>
                </a:solidFill>
                <a:latin typeface="Calibri"/>
              </a:rPr>
              <a:t>Ingestao hibrida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52728"/>
            <a:ext cx="1280160" cy="54864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5349240" cy="4206240"/>
          </a:xfrm>
          <a:prstGeom prst="round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1920240"/>
            <a:ext cx="548640" cy="54864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965960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Batch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48463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Para dados estaveis, que mudam em lotes.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Metas, municipios e tabelas de referencia.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Roda como job Glue agendado, gravando no bruto.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349240" cy="4206240"/>
          </a:xfrm>
          <a:prstGeom prst="round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92240" y="1920240"/>
            <a:ext cx="548640" cy="54864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1965960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ED145B"/>
                </a:solidFill>
                <a:latin typeface="Calibri"/>
              </a:rPr>
              <a:t>Streaming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788920"/>
            <a:ext cx="48463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Para as novas medicoes de desempenho.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Chegam como eventos via Kinesis.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Uma Lambda grava no bruto em tempo quase real.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A1A1A"/>
                </a:solidFill>
                <a:latin typeface="Calibri"/>
              </a:rPr>
              <a:t>Camadas de dados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52728"/>
            <a:ext cx="1280160" cy="54864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3474720" cy="3474720"/>
          </a:xfrm>
          <a:prstGeom prst="round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103120"/>
            <a:ext cx="502920" cy="502920"/>
          </a:xfrm>
          <a:prstGeom prst="ellipse">
            <a:avLst/>
          </a:prstGeom>
          <a:solidFill>
            <a:srgbClr val="B07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34640"/>
            <a:ext cx="29260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1A1A1A"/>
                </a:solidFill>
                <a:latin typeface="Calibri"/>
              </a:rPr>
              <a:t>Bronze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Dado bruto, como veio da fonte, com historico preservado.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828800"/>
            <a:ext cx="3474720" cy="3474720"/>
          </a:xfrm>
          <a:prstGeom prst="round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17720" y="2103120"/>
            <a:ext cx="502920" cy="502920"/>
          </a:xfrm>
          <a:prstGeom prst="ellipse">
            <a:avLst/>
          </a:prstGeom>
          <a:solidFill>
            <a:srgbClr val="8A90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2834640"/>
            <a:ext cx="29260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1A1A1A"/>
                </a:solidFill>
                <a:latin typeface="Calibri"/>
              </a:rPr>
              <a:t>Silver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Limpo, padronizado e, o ponto central, integrado entre as fontes.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19" y="1828800"/>
            <a:ext cx="3474720" cy="3474720"/>
          </a:xfrm>
          <a:prstGeom prst="round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321040" y="2103120"/>
            <a:ext cx="502920" cy="5029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834640"/>
            <a:ext cx="29260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1A1A1A"/>
                </a:solidFill>
                <a:latin typeface="Calibri"/>
              </a:rPr>
              <a:t>Gold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Indicador por municipio, metas vs resultado e evolucao no tempo.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A1A1A"/>
                </a:solidFill>
                <a:latin typeface="Calibri"/>
              </a:rPr>
              <a:t>Qualidade e confianca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52728"/>
            <a:ext cx="1280160" cy="54864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6400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Um gate automatico valida as camadas. Se algo critico falha, a pipeline para antes de um numero errado chegar a um relatorio.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788920"/>
            <a:ext cx="502920" cy="50292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834639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A1A1A"/>
                </a:solidFill>
                <a:latin typeface="Calibri"/>
              </a:rPr>
              <a:t>Duplicidade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657600"/>
            <a:ext cx="502920" cy="50292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70332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A1A1A"/>
                </a:solidFill>
                <a:latin typeface="Calibri"/>
              </a:rPr>
              <a:t>Valores ausentes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526279"/>
            <a:ext cx="502920" cy="50292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571999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A1A1A"/>
                </a:solidFill>
                <a:latin typeface="Calibri"/>
              </a:rPr>
              <a:t>Chaves de relacionamento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5394959"/>
            <a:ext cx="502920" cy="50292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440679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A1A1A"/>
                </a:solidFill>
                <a:latin typeface="Calibri"/>
              </a:rPr>
              <a:t>Consistencia entre tabelas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79" y="2468880"/>
            <a:ext cx="4023360" cy="2103120"/>
          </a:xfrm>
          <a:prstGeom prst="round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2743200"/>
            <a:ext cx="3657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6000" b="1">
                <a:solidFill>
                  <a:srgbClr val="ED145B"/>
                </a:solidFill>
                <a:latin typeface="Calibri"/>
              </a:rPr>
              <a:t>11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checagens executadas a cada rodada, validadas com a pipeline rodando de ponta a ponta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A1A1A"/>
                </a:solidFill>
                <a:latin typeface="Calibri"/>
              </a:rPr>
              <a:t>Monitoramento e custo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52728"/>
            <a:ext cx="1280160" cy="54864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5349240" cy="4206240"/>
          </a:xfrm>
          <a:prstGeom prst="round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1">
                <a:solidFill>
                  <a:srgbClr val="1A1A1A"/>
                </a:solidFill>
                <a:latin typeface="Calibri"/>
              </a:rPr>
              <a:t>Monitoramento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Metricas de latencia, volume e falhas no CloudWatch.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Alarmes e alertas por SNS, com painel de acompanhamento.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349240" cy="4206240"/>
          </a:xfrm>
          <a:prstGeom prst="round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92024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2000" b="1">
                <a:solidFill>
                  <a:srgbClr val="ED145B"/>
                </a:solidFill>
                <a:latin typeface="Calibri"/>
              </a:rPr>
              <a:t>FinOps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Serverless de ponta a ponta: custo quase zero quando ocioso.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Parquet com particionamento e ciclo de vida no S3.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Ambiente efemero: sobe, processa e destroi.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A1A1A"/>
                </a:solidFill>
                <a:latin typeface="Calibri"/>
              </a:rPr>
              <a:t>Valor e potencial de 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52728"/>
            <a:ext cx="1280160" cy="54864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1737360"/>
            <a:ext cx="640080" cy="64008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737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A1A1A"/>
                </a:solidFill>
                <a:latin typeface="Calibri"/>
              </a:rPr>
              <a:t>Antecipar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Calibri"/>
              </a:rPr>
              <a:t>Prever quais municipios tendem a ficar abaixo da meta e agir antes do resultado consolidado.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3200400"/>
            <a:ext cx="640080" cy="64008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20040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A1A1A"/>
                </a:solidFill>
                <a:latin typeface="Calibri"/>
              </a:rPr>
              <a:t>Enxergar desigualdade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Calibri"/>
              </a:rPr>
              <a:t>Comparar regioes e redes e identificar grupos em maior vulnerabilidade educacional.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4663440"/>
            <a:ext cx="640080" cy="64008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466344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A1A1A"/>
                </a:solidFill>
                <a:latin typeface="Calibri"/>
              </a:rPr>
              <a:t>Decidir com dados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Calibri"/>
              </a:rPr>
              <a:t>Priorizar recurso onde ha maior distancia da meta e medir o efeito das acoes no tempo.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194560"/>
            <a:ext cx="1828800" cy="54864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Dados publicos viram informacao acionavel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E5E5E5"/>
                </a:solidFill>
                <a:latin typeface="Calibri"/>
              </a:rPr>
              <a:t>Uma pipeline moderna, barata e confiavel, que transforma o indicador de alfabetizacao em apoio a politica publica e ja abre a porta para inteligencia artificial.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ED145B"/>
                </a:solidFill>
                <a:latin typeface="Calibri"/>
              </a:rPr>
              <a:t>Obrigado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