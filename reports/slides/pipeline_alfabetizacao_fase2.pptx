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Pipeline Hibrido de Alfabetizacao no Brasil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CADCFC"/>
                </a:solidFill>
                <a:latin typeface="Calibri"/>
              </a:rPr>
              <a:t>Integrando dados publicos para apoiar politicas de alfabetizacao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CADCFC"/>
                </a:solidFill>
                <a:latin typeface="Calibri"/>
              </a:rPr>
              <a:t>Tech Challenge Fase 2  |  MBA AI Scientist (FIAP / POSTECH)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A896"/>
                </a:solidFill>
                <a:latin typeface="Calibri"/>
              </a:rPr>
              <a:t>Guilherme Cosme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E2761"/>
                </a:solidFill>
                <a:latin typeface="Calibr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612648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>
                <a:solidFill>
                  <a:srgbClr val="2B2B2B"/>
                </a:solidFill>
                <a:latin typeface="Calibri"/>
              </a:rPr>
              <a:t>A alfabetizacao ate o final do 2o ano e um marco do desenvolvimento educacional. O pais tem uma meta clara para acompanhar esse direito.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2B2B2B"/>
                </a:solidFill>
                <a:latin typeface="Calibri"/>
              </a:rPr>
              <a:t>O Indicador Crianca Alfabetizada mede o percentual de criancas que atingem o nivel de leitura esperado. Sozinho, ele mostra onde estamos, mas nao explica o porque nem ajuda a agir.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2B2B2B"/>
                </a:solidFill>
                <a:latin typeface="Calibri"/>
              </a:rPr>
              <a:t>Para isso, e preciso juntar fontes que hoje vivem separadas: metas, territorios e desempenho dos alunos.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0" y="1554480"/>
            <a:ext cx="4297680" cy="182880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0" y="1783080"/>
            <a:ext cx="3931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6000" b="1">
                <a:solidFill>
                  <a:srgbClr val="00A896"/>
                </a:solidFill>
                <a:latin typeface="Calibri"/>
              </a:rPr>
              <a:t>743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pontos no Saeb: o corte que define uma crianca alfabetizada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3657600"/>
            <a:ext cx="4297680" cy="182880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3886200"/>
            <a:ext cx="3931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6000" b="1">
                <a:solidFill>
                  <a:srgbClr val="1E2761"/>
                </a:solidFill>
                <a:latin typeface="Calibri"/>
              </a:rPr>
              <a:t>2030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meta para todas as criancas alfabetizadas ao fim do 2o ano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E2761"/>
                </a:solidFill>
                <a:latin typeface="Calibri"/>
              </a:rPr>
              <a:t>O dado certo, hoje, esta espalhado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560320" cy="210312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0200" y="1965960"/>
            <a:ext cx="640080" cy="64008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UF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788920"/>
            <a:ext cx="2194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Calibri"/>
              </a:rPr>
              <a:t>Unidades da federacao e regioes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737360"/>
            <a:ext cx="2560320" cy="210312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0" y="1965960"/>
            <a:ext cx="640080" cy="64008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2788920"/>
            <a:ext cx="2194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Calibri"/>
              </a:rPr>
              <a:t>Municipios e vinculo com a UF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37360"/>
            <a:ext cx="2560320" cy="210312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1965960"/>
            <a:ext cx="640080" cy="64008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META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88920"/>
            <a:ext cx="2194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Calibri"/>
              </a:rPr>
              <a:t>Metas nacional, por UF e por municipio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6839" y="1737360"/>
            <a:ext cx="2560320" cy="210312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966959" y="1965960"/>
            <a:ext cx="640080" cy="64008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19" y="2788920"/>
            <a:ext cx="2194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Calibri"/>
              </a:rPr>
              <a:t>Desempenho dos alunos por rede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976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  <a:latin typeface="Calibri"/>
              </a:rPr>
              <a:t>Integradas, essas fontes deixam de ser numeros soltos e passam a responder onde concentrar esforco, onde estao as maiores desigualdades e o que esta melhorando ao longo do tempo.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A solucao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>
                <a:solidFill>
                  <a:srgbClr val="CADCFC"/>
                </a:solidFill>
                <a:latin typeface="Calibri"/>
              </a:rPr>
              <a:t>Uma pipeline de dados que integra essas fontes de forma automatica, confiavel e barata, na nuvem.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51760"/>
            <a:ext cx="2560320" cy="2468880"/>
          </a:xfrm>
          <a:prstGeom prst="roundRect">
            <a:avLst/>
          </a:prstGeom>
          <a:solidFill>
            <a:srgbClr val="2A34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1639" y="2926080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611880"/>
            <a:ext cx="2103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Hibrida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ADCFC"/>
                </a:solidFill>
                <a:latin typeface="Calibri"/>
              </a:rPr>
              <a:t>Ingestao em lote e em tempo quase real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651760"/>
            <a:ext cx="2560320" cy="2468880"/>
          </a:xfrm>
          <a:prstGeom prst="roundRect">
            <a:avLst/>
          </a:prstGeom>
          <a:solidFill>
            <a:srgbClr val="2A34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80560" y="2926080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611880"/>
            <a:ext cx="2103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Medalhao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ADCFC"/>
                </a:solidFill>
                <a:latin typeface="Calibri"/>
              </a:rPr>
              <a:t>Camadas de bruto, tratado e analitico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651760"/>
            <a:ext cx="2560320" cy="2468880"/>
          </a:xfrm>
          <a:prstGeom prst="roundRect">
            <a:avLst/>
          </a:prstGeom>
          <a:solidFill>
            <a:srgbClr val="2A34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269479" y="2926080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611880"/>
            <a:ext cx="2103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Serverless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ADCFC"/>
                </a:solidFill>
                <a:latin typeface="Calibri"/>
              </a:rPr>
              <a:t>Paga pelo uso, sobe e destroi em minutos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39" y="2651760"/>
            <a:ext cx="2560320" cy="2468880"/>
          </a:xfrm>
          <a:prstGeom prst="roundRect">
            <a:avLst/>
          </a:prstGeom>
          <a:solidFill>
            <a:srgbClr val="2A34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058399" y="2926080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39" y="3611880"/>
            <a:ext cx="2103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Governada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ADCFC"/>
                </a:solidFill>
                <a:latin typeface="Calibri"/>
              </a:rPr>
              <a:t>Qualidade validada a cada rodada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E2761"/>
                </a:solidFill>
                <a:latin typeface="Calibri"/>
              </a:rPr>
              <a:t>Arquitetura da solucao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03120"/>
            <a:ext cx="1965960" cy="164592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19" y="2286000"/>
            <a:ext cx="1783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E2761"/>
                </a:solidFill>
                <a:latin typeface="Calibri"/>
              </a:rPr>
              <a:t>Fontes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Base dos Dados e eventos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7" y="2697480"/>
            <a:ext cx="283464" cy="457200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926080" y="2103120"/>
            <a:ext cx="1965960" cy="164592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2286000"/>
            <a:ext cx="1783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E2761"/>
                </a:solidFill>
                <a:latin typeface="Calibri"/>
              </a:rPr>
              <a:t>Bronze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dado bruto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10327" y="2697480"/>
            <a:ext cx="283464" cy="457200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12080" y="2103120"/>
            <a:ext cx="1965960" cy="164592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286000"/>
            <a:ext cx="1783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E2761"/>
                </a:solidFill>
                <a:latin typeface="Calibri"/>
              </a:rPr>
              <a:t>Silver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limpo e integrado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196327" y="2697480"/>
            <a:ext cx="283464" cy="457200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79" y="2103120"/>
            <a:ext cx="1965960" cy="1645920"/>
          </a:xfrm>
          <a:prstGeom prst="round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19" y="2286000"/>
            <a:ext cx="1783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Gold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analitico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482328" y="2697480"/>
            <a:ext cx="283464" cy="457200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784080" y="2103120"/>
            <a:ext cx="1965960" cy="164592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19" y="2286000"/>
            <a:ext cx="1783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E2761"/>
                </a:solidFill>
                <a:latin typeface="Calibri"/>
              </a:rPr>
              <a:t>Consumo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Athena, BI e 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29768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2B2B2B"/>
                </a:solidFill>
                <a:latin typeface="Calibri"/>
              </a:rPr>
              <a:t>Step Functions orquestra as etapas e o EventBridge dispara na agenda. Um gate de qualidade barra dado ruim antes da camada analitica, e o CloudWatch acompanha latencia, volume e falhas.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E2761"/>
                </a:solidFill>
                <a:latin typeface="Calibri"/>
              </a:rPr>
              <a:t>Ingestao hibrida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5349240" cy="420624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82880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874519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E2761"/>
                </a:solidFill>
                <a:latin typeface="Calibri"/>
              </a:rPr>
              <a:t>Batch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48463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2B2B2B"/>
                </a:solidFill>
                <a:latin typeface="Calibri"/>
              </a:rPr>
              <a:t>Para dados estaveis, que mudam em lotes.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Metas, municipios e tabelas de referencia.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Roda como job Glue agendado, gravando no bruto.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349240" cy="420624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92240" y="1828800"/>
            <a:ext cx="548640" cy="54864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1874519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A896"/>
                </a:solidFill>
                <a:latin typeface="Calibri"/>
              </a:rPr>
              <a:t>Streaming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697480"/>
            <a:ext cx="48463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2B2B2B"/>
                </a:solidFill>
                <a:latin typeface="Calibri"/>
              </a:rPr>
              <a:t>Para as novas medicoes de desempenho.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Chegam como eventos via Kinesis.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Uma Lambda grava no bruto em tempo quase real.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E2761"/>
                </a:solidFill>
                <a:latin typeface="Calibri"/>
              </a:rPr>
              <a:t>Camadas de dados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3474720" cy="347472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011680"/>
            <a:ext cx="502920" cy="502920"/>
          </a:xfrm>
          <a:prstGeom prst="ellipse">
            <a:avLst/>
          </a:prstGeom>
          <a:solidFill>
            <a:srgbClr val="B0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29260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Bronze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B2B2B"/>
                </a:solidFill>
                <a:latin typeface="Calibri"/>
              </a:rPr>
              <a:t>Dado bruto, como veio da fonte, com historico preservado.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737360"/>
            <a:ext cx="3474720" cy="347472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17720" y="2011680"/>
            <a:ext cx="502920" cy="502920"/>
          </a:xfrm>
          <a:prstGeom prst="ellipse">
            <a:avLst/>
          </a:prstGeom>
          <a:solidFill>
            <a:srgbClr val="8A90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743200"/>
            <a:ext cx="29260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Silver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B2B2B"/>
                </a:solidFill>
                <a:latin typeface="Calibri"/>
              </a:rPr>
              <a:t>Limpo, padronizado e, o ponto central, integrado entre as fontes.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1737360"/>
            <a:ext cx="3474720" cy="347472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321040" y="2011680"/>
            <a:ext cx="502920" cy="50292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743200"/>
            <a:ext cx="29260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Gold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B2B2B"/>
                </a:solidFill>
                <a:latin typeface="Calibri"/>
              </a:rPr>
              <a:t>Indicador por municipio, metas vs resultado e evolucao no tempo.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E2761"/>
                </a:solidFill>
                <a:latin typeface="Calibri"/>
              </a:rPr>
              <a:t>Qualidade e confianca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  <a:latin typeface="Calibri"/>
              </a:rPr>
              <a:t>Um gate automatico valida as camadas. Se algo critico falha, a pipeline para antes de um numero errado chegar a um relatorio.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697480"/>
            <a:ext cx="502920" cy="50292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E2761"/>
                </a:solidFill>
                <a:latin typeface="Calibri"/>
              </a:rPr>
              <a:t>Duplicidade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566160"/>
            <a:ext cx="502920" cy="50292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61188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E2761"/>
                </a:solidFill>
                <a:latin typeface="Calibri"/>
              </a:rPr>
              <a:t>Valores ausentes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4434840"/>
            <a:ext cx="502920" cy="50292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480559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E2761"/>
                </a:solidFill>
                <a:latin typeface="Calibri"/>
              </a:rPr>
              <a:t>Chaves de relacionamento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5303520"/>
            <a:ext cx="502920" cy="50292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34924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E2761"/>
                </a:solidFill>
                <a:latin typeface="Calibri"/>
              </a:rPr>
              <a:t>Consistencia entre tabelas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2377440"/>
            <a:ext cx="4023360" cy="210312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0" y="2651760"/>
            <a:ext cx="3657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6000" b="1">
                <a:solidFill>
                  <a:srgbClr val="00A896"/>
                </a:solidFill>
                <a:latin typeface="Calibri"/>
              </a:rPr>
              <a:t>11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checagens executadas a cada rodada, validadas com a pipeline rodando de ponta a ponta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E2761"/>
                </a:solidFill>
                <a:latin typeface="Calibri"/>
              </a:rPr>
              <a:t>Monitoramento e custo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5349240" cy="420624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Monitoramento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2B2B2B"/>
                </a:solidFill>
                <a:latin typeface="Calibri"/>
              </a:rPr>
              <a:t>Metricas de latencia, volume e falhas no CloudWatch.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2B2B2B"/>
                </a:solidFill>
                <a:latin typeface="Calibri"/>
              </a:rPr>
              <a:t>Alarmes e alertas por SNS, com painel de acompanhamento.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349240" cy="420624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2000" b="1">
                <a:solidFill>
                  <a:srgbClr val="00A896"/>
                </a:solidFill>
                <a:latin typeface="Calibri"/>
              </a:rPr>
              <a:t>FinOps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2B2B2B"/>
                </a:solidFill>
                <a:latin typeface="Calibri"/>
              </a:rPr>
              <a:t>Serverless de ponta a ponta: custo quase zero quando ocioso.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2B2B2B"/>
                </a:solidFill>
                <a:latin typeface="Calibri"/>
              </a:rPr>
              <a:t>Parquet com particionamento e ciclo de vida no S3.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2B2B2B"/>
                </a:solidFill>
                <a:latin typeface="Calibri"/>
              </a:rPr>
              <a:t>Ambiente efemero: sobe, processa e destroi.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E2761"/>
                </a:solidFill>
                <a:latin typeface="Calibri"/>
              </a:rPr>
              <a:t>Valor e potencial de IA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645920"/>
            <a:ext cx="640080" cy="64008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64592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E2761"/>
                </a:solidFill>
                <a:latin typeface="Calibri"/>
              </a:rPr>
              <a:t>Antecipar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B2B2B"/>
                </a:solidFill>
                <a:latin typeface="Calibri"/>
              </a:rPr>
              <a:t>Prever quais municipios tendem a ficar abaixo da meta e agir antes do resultado consolidado.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3108960"/>
            <a:ext cx="640080" cy="64008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31089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E2761"/>
                </a:solidFill>
                <a:latin typeface="Calibri"/>
              </a:rPr>
              <a:t>Enxergar desigualdade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B2B2B"/>
                </a:solidFill>
                <a:latin typeface="Calibri"/>
              </a:rPr>
              <a:t>Comparar regioes e redes e identificar grupos em maior vulnerabilidade educacional.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4572000"/>
            <a:ext cx="640080" cy="640080"/>
          </a:xfrm>
          <a:prstGeom prst="ellips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457200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E2761"/>
                </a:solidFill>
                <a:latin typeface="Calibri"/>
              </a:rPr>
              <a:t>Decidir com dados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B2B2B"/>
                </a:solidFill>
                <a:latin typeface="Calibri"/>
              </a:rPr>
              <a:t>Priorizar recurso onde ha maior distancia da meta e medir o efeito das acoes no tempo.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Dados publicos viram informacao acionavel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Uma pipeline moderna, barata e confiavel, que transforma o indicador de alfabetizacao em apoio a politica publica e ja abre a porta para inteligencia artificial.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A896"/>
                </a:solidFill>
                <a:latin typeface="Calibri"/>
              </a:rPr>
              <a:t>Obrigado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