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317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ED145B"/>
                </a:solidFill>
                <a:latin typeface="Calibri"/>
              </a:rPr>
              <a:t>TECH CHALLENGE   ·   FASE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9748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1A1A1A"/>
                </a:solidFill>
                <a:latin typeface="Calibri"/>
              </a:rPr>
              <a:t>Pipeline Híbrida de Alfabetização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794760"/>
            <a:ext cx="10332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555555"/>
                </a:solidFill>
                <a:latin typeface="Calibri"/>
              </a:rPr>
              <a:t>Integrando dados públicos para apoiar políticas de alfabetização no Brasil</a:t>
            </a:r>
          </a:p>
        </p:txBody>
      </p:sp>
      <p:sp>
        <p:nvSpPr>
          <p:cNvPr id="7" name="Rectangle 6"/>
          <p:cNvSpPr/>
          <p:nvPr/>
        </p:nvSpPr>
        <p:spPr>
          <a:xfrm>
            <a:off x="886968" y="4617720"/>
            <a:ext cx="137160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8920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Calibri"/>
              </a:rPr>
              <a:t>Guilherme Cosme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3035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Calibri"/>
              </a:rPr>
              <a:t>RM 372204   ·   Turma 1IAST   ·   MBA AI Scientist   ·   FIAP / POSTECH</a:t>
            </a:r>
          </a:p>
        </p:txBody>
      </p:sp>
      <p:pic>
        <p:nvPicPr>
          <p:cNvPr id="10" name="Picture 9" descr="github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5870448"/>
            <a:ext cx="256032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216152" y="58521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github.com/guillecosme/fiap-ai-scientist-tech-challenge-fase-02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D145B"/>
                </a:solidFill>
                <a:latin typeface="Calibri"/>
              </a:rPr>
              <a:t>CONTEXTO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Calibri"/>
              </a:rPr>
              <a:t>O problema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63040"/>
            <a:ext cx="118872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63093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3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A alfabetização até o final do 2º ano é um marco do desenvolvimento educacional, social e econômico. O país tem uma meta clara para acompanhar esse direito.</a:t>
            </a:r>
          </a:p>
          <a:p>
            <a:pPr algn="l">
              <a:spcAft>
                <a:spcPts val="13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O Indicador Criança Alfabetizada mede o percentual de crianças que atingem o nível de leitura esperado. Sozinho, ele mostra onde estamos, mas não explica o porquê nem ajuda a agir.</a:t>
            </a:r>
          </a:p>
          <a:p>
            <a:pPr algn="l">
              <a:spcAft>
                <a:spcPts val="13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Para isso, é preciso juntar fontes que hoje vivem separadas: metas, territórios e desempenho dos alunos.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1783080"/>
            <a:ext cx="4206240" cy="182880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0" y="1965960"/>
            <a:ext cx="37947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5400" b="1">
                <a:solidFill>
                  <a:srgbClr val="ED145B"/>
                </a:solidFill>
                <a:latin typeface="Calibri"/>
              </a:rPr>
              <a:t>743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pontos no Saeb: o corte que define uma criança alfabetizada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3794760"/>
            <a:ext cx="4206240" cy="182880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43800" y="3977639"/>
            <a:ext cx="37947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5400" b="1">
                <a:solidFill>
                  <a:srgbClr val="1A1A1A"/>
                </a:solidFill>
                <a:latin typeface="Calibri"/>
              </a:rPr>
              <a:t>2030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meta para todas as crianças alfabetizadas ao fim do 2º ano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Pipeline de Alfabetização  ·  Tech Challenge Fase 2  ·  MBA AI Scientist FIAP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0" y="6455664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ED145B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D145B"/>
                </a:solidFill>
                <a:latin typeface="Calibri"/>
              </a:rPr>
              <a:t>AS FONTES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Calibri"/>
              </a:rPr>
              <a:t>O dado certo, hoje, está espalhado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63040"/>
            <a:ext cx="118872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2560320" cy="210312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00200" y="2148840"/>
            <a:ext cx="640080" cy="64008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UF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971800"/>
            <a:ext cx="21945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1A1A1A"/>
                </a:solidFill>
                <a:latin typeface="Calibri"/>
              </a:rPr>
              <a:t>Unidades da federação e regiões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920240"/>
            <a:ext cx="2560320" cy="210312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389120" y="2148840"/>
            <a:ext cx="640080" cy="640080"/>
          </a:xfrm>
          <a:prstGeom prst="ellipse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MUN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2971800"/>
            <a:ext cx="21945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1A1A1A"/>
                </a:solidFill>
                <a:latin typeface="Calibri"/>
              </a:rPr>
              <a:t>Municípios e vínculo com a UF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920240"/>
            <a:ext cx="2560320" cy="210312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78040" y="2148840"/>
            <a:ext cx="640080" cy="64008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META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971800"/>
            <a:ext cx="21945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1A1A1A"/>
                </a:solidFill>
                <a:latin typeface="Calibri"/>
              </a:rPr>
              <a:t>Metas nacional, por UF e por município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6839" y="1920240"/>
            <a:ext cx="2560320" cy="210312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66959" y="2148840"/>
            <a:ext cx="640080" cy="640080"/>
          </a:xfrm>
          <a:prstGeom prst="ellipse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19" y="2971800"/>
            <a:ext cx="21945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1A1A1A"/>
                </a:solidFill>
                <a:latin typeface="Calibri"/>
              </a:rPr>
              <a:t>Desempenho dos alunos por rede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480560"/>
            <a:ext cx="108813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Integradas, essas fontes deixam de ser números soltos e passam a responder onde concentrar esforço, onde estão as maiores desigualdades e o que está melhorando ao longo do tempo.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Pipeline de Alfabetização  ·  Tech Challenge Fase 2  ·  MBA AI Scientist FIAP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6455664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ED145B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D145B"/>
                </a:solidFill>
                <a:latin typeface="Calibri"/>
              </a:rPr>
              <a:t>VISÃO GERAL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Calibri"/>
              </a:rPr>
              <a:t>A solução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63040"/>
            <a:ext cx="118872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555555"/>
                </a:solidFill>
                <a:latin typeface="Calibri"/>
              </a:rPr>
              <a:t>Uma pipeline de dados que integra essas fontes de forma automática, confiável e barata, na nuvem.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51760"/>
            <a:ext cx="2560320" cy="246888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91639" y="2926080"/>
            <a:ext cx="457200" cy="457200"/>
          </a:xfrm>
          <a:prstGeom prst="ellipse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611880"/>
            <a:ext cx="2103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1A1A1A"/>
                </a:solidFill>
                <a:latin typeface="Calibri"/>
              </a:rPr>
              <a:t>Híbrida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Ingestão em lote e em tempo quase real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2651760"/>
            <a:ext cx="2560320" cy="246888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480560" y="2926080"/>
            <a:ext cx="457200" cy="457200"/>
          </a:xfrm>
          <a:prstGeom prst="ellipse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3611880"/>
            <a:ext cx="2103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1A1A1A"/>
                </a:solidFill>
                <a:latin typeface="Calibri"/>
              </a:rPr>
              <a:t>Medalhão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Camadas de bruto, tratado e analítico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651760"/>
            <a:ext cx="2560320" cy="246888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269479" y="2926080"/>
            <a:ext cx="457200" cy="457200"/>
          </a:xfrm>
          <a:prstGeom prst="ellipse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3611880"/>
            <a:ext cx="2103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1A1A1A"/>
                </a:solidFill>
                <a:latin typeface="Calibri"/>
              </a:rPr>
              <a:t>Serverless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Paga pelo uso, sobe e destrói em minutos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06839" y="2651760"/>
            <a:ext cx="2560320" cy="246888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058399" y="2926080"/>
            <a:ext cx="457200" cy="457200"/>
          </a:xfrm>
          <a:prstGeom prst="ellipse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35439" y="3611880"/>
            <a:ext cx="2103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1A1A1A"/>
                </a:solidFill>
                <a:latin typeface="Calibri"/>
              </a:rPr>
              <a:t>Governada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Qualidade validada a cada rodada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Pipeline de Alfabetização  ·  Tech Challenge Fase 2  ·  MBA AI Scientist FIAP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6455664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ED145B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D145B"/>
                </a:solidFill>
                <a:latin typeface="Calibri"/>
              </a:rPr>
              <a:t>ARQUITETURA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Calibri"/>
              </a:rPr>
              <a:t>Arquitetura da solução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63040"/>
            <a:ext cx="118872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rquitetura_fas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6189" y="1600200"/>
            <a:ext cx="8434860" cy="47091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Pipeline de Alfabetização  ·  Tech Challenge Fase 2  ·  MBA AI Scientist FIAP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55664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ED145B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D145B"/>
                </a:solidFill>
                <a:latin typeface="Calibri"/>
              </a:rPr>
              <a:t>INGESTÃO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Calibri"/>
              </a:rPr>
              <a:t>Ingestão híbrida: cada dado no seu regime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63040"/>
            <a:ext cx="118872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5257800" cy="443484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0119" y="2057400"/>
            <a:ext cx="548640" cy="54864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39" y="2121408"/>
            <a:ext cx="4023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>
                <a:solidFill>
                  <a:srgbClr val="1A1A1A"/>
                </a:solidFill>
                <a:latin typeface="Calibri"/>
              </a:rPr>
              <a:t>Batch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2880360"/>
            <a:ext cx="46634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O que é:  </a:t>
            </a:r>
            <a:r>
              <a:rPr sz="1300" b="0">
                <a:solidFill>
                  <a:srgbClr val="555555"/>
                </a:solidFill>
                <a:latin typeface="Calibri"/>
              </a:rPr>
              <a:t>carga periódica das bases estáveis, como job Glue agendado pelo EventBridge.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3666744"/>
            <a:ext cx="46634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Na pipeline:  </a:t>
            </a:r>
            <a:r>
              <a:rPr sz="1300" b="0">
                <a:solidFill>
                  <a:srgbClr val="555555"/>
                </a:solidFill>
                <a:latin typeface="Calibri"/>
              </a:rPr>
              <a:t>UF, município e as três metas, lidas da Base dos Dados e gravadas no Bronze.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19" y="4453128"/>
            <a:ext cx="46634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Por quê:  </a:t>
            </a:r>
            <a:r>
              <a:rPr sz="1300" b="0">
                <a:solidFill>
                  <a:srgbClr val="555555"/>
                </a:solidFill>
                <a:latin typeface="Calibri"/>
              </a:rPr>
              <a:t>referências mudam em lotes; recarregar tudo (overwrite) é simples e idempotente.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19" y="5239512"/>
            <a:ext cx="46634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Trade-off:  </a:t>
            </a:r>
            <a:r>
              <a:rPr sz="1300" b="0">
                <a:solidFill>
                  <a:srgbClr val="555555"/>
                </a:solidFill>
                <a:latin typeface="Calibri"/>
              </a:rPr>
              <a:t>reprocessa a base inteira a cada rodada, aceitável pelo volume pequeno.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783080"/>
            <a:ext cx="5257800" cy="443484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583679" y="2057400"/>
            <a:ext cx="548640" cy="548640"/>
          </a:xfrm>
          <a:prstGeom prst="ellipse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121408"/>
            <a:ext cx="4023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>
                <a:solidFill>
                  <a:srgbClr val="ED145B"/>
                </a:solidFill>
                <a:latin typeface="Calibri"/>
              </a:rPr>
              <a:t>Streaming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79" y="2880360"/>
            <a:ext cx="46634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O que é:  </a:t>
            </a:r>
            <a:r>
              <a:rPr sz="1300" b="0">
                <a:solidFill>
                  <a:srgbClr val="555555"/>
                </a:solidFill>
                <a:latin typeface="Calibri"/>
              </a:rPr>
              <a:t>ingestão de eventos em tempo quase real, via Kinesis e Lambda.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79" y="3666744"/>
            <a:ext cx="46634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Na pipeline:  </a:t>
            </a:r>
            <a:r>
              <a:rPr sz="1300" b="0">
                <a:solidFill>
                  <a:srgbClr val="555555"/>
                </a:solidFill>
                <a:latin typeface="Calibri"/>
              </a:rPr>
              <a:t>produtor simula novas medições (município, rede, indicador) no Kinesis.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79" y="4453128"/>
            <a:ext cx="46634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Por quê:  </a:t>
            </a:r>
            <a:r>
              <a:rPr sz="1300" b="0">
                <a:solidFill>
                  <a:srgbClr val="555555"/>
                </a:solidFill>
                <a:latin typeface="Calibri"/>
              </a:rPr>
              <a:t>medições chegam continuamente; tratar como evento encurta o caminho até a análise.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79" y="5239512"/>
            <a:ext cx="46634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Trade-off:  </a:t>
            </a:r>
            <a:r>
              <a:rPr sz="1300" b="0">
                <a:solidFill>
                  <a:srgbClr val="555555"/>
                </a:solidFill>
                <a:latin typeface="Calibri"/>
              </a:rPr>
              <a:t>latência de micro-lote vs custo; Kinesis on-demand paga só pelo que passa.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Pipeline de Alfabetização  ·  Tech Challenge Fase 2  ·  MBA AI Scientist FIAP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0" y="6455664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ED145B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D145B"/>
                </a:solidFill>
                <a:latin typeface="Calibri"/>
              </a:rPr>
              <a:t>MODELO DE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Calibri"/>
              </a:rPr>
              <a:t>Camadas medalhão: por que cada uma existe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63040"/>
            <a:ext cx="118872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3474720" cy="434340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057400"/>
            <a:ext cx="502920" cy="502920"/>
          </a:xfrm>
          <a:prstGeom prst="ellipse">
            <a:avLst/>
          </a:prstGeom>
          <a:solidFill>
            <a:srgbClr val="B07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121408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>
                <a:solidFill>
                  <a:srgbClr val="1A1A1A"/>
                </a:solidFill>
                <a:latin typeface="Calibri"/>
              </a:rPr>
              <a:t>Bronze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80360"/>
            <a:ext cx="29260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Dado bruto, como veio da fonte, particionado por data e versionado.</a:t>
            </a:r>
          </a:p>
          <a:p>
            <a:pPr algn="l">
              <a:spcAft>
                <a:spcPts val="1200"/>
              </a:spcAft>
            </a:pPr>
            <a:r>
              <a:rPr sz="1200" b="1">
                <a:solidFill>
                  <a:srgbClr val="ED145B"/>
                </a:solidFill>
                <a:latin typeface="Calibri"/>
              </a:rPr>
              <a:t>Por quê  </a:t>
            </a:r>
            <a:r>
              <a:rPr sz="1200" b="0">
                <a:solidFill>
                  <a:srgbClr val="555555"/>
                </a:solidFill>
                <a:latin typeface="Calibri"/>
              </a:rPr>
              <a:t>Preserva o histórico e permite reprocessar Silver e Gold quando a regra muda.</a:t>
            </a:r>
          </a:p>
          <a:p>
            <a:pPr algn="l">
              <a:spcAft>
                <a:spcPts val="1200"/>
              </a:spcAft>
            </a:pPr>
            <a:r>
              <a:rPr sz="1200" b="1">
                <a:solidFill>
                  <a:srgbClr val="ED145B"/>
                </a:solidFill>
                <a:latin typeface="Calibri"/>
              </a:rPr>
              <a:t>Trade-off  </a:t>
            </a:r>
            <a:r>
              <a:rPr sz="1200" b="0">
                <a:solidFill>
                  <a:srgbClr val="555555"/>
                </a:solidFill>
                <a:latin typeface="Calibri"/>
              </a:rPr>
              <a:t>Duplica armazenamento em troca de reprocessamento e auditoria.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783080"/>
            <a:ext cx="3474720" cy="434340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617720" y="2057400"/>
            <a:ext cx="502920" cy="502920"/>
          </a:xfrm>
          <a:prstGeom prst="ellipse">
            <a:avLst/>
          </a:prstGeom>
          <a:solidFill>
            <a:srgbClr val="8A90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2121408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>
                <a:solidFill>
                  <a:srgbClr val="1A1A1A"/>
                </a:solidFill>
                <a:latin typeface="Calibri"/>
              </a:rPr>
              <a:t>Silver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880360"/>
            <a:ext cx="29260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Limpo, tipado, com chaves normalizadas e as bases integradas.</a:t>
            </a:r>
          </a:p>
          <a:p>
            <a:pPr algn="l">
              <a:spcAft>
                <a:spcPts val="1200"/>
              </a:spcAft>
            </a:pPr>
            <a:r>
              <a:rPr sz="1200" b="1">
                <a:solidFill>
                  <a:srgbClr val="ED145B"/>
                </a:solidFill>
                <a:latin typeface="Calibri"/>
              </a:rPr>
              <a:t>Por quê  </a:t>
            </a:r>
            <a:r>
              <a:rPr sz="1200" b="0">
                <a:solidFill>
                  <a:srgbClr val="555555"/>
                </a:solidFill>
                <a:latin typeface="Calibri"/>
              </a:rPr>
              <a:t>Cria uma fonte única e consistente; alunos batch e streaming no mesmo grão.</a:t>
            </a:r>
          </a:p>
          <a:p>
            <a:pPr algn="l">
              <a:spcAft>
                <a:spcPts val="1200"/>
              </a:spcAft>
            </a:pPr>
            <a:r>
              <a:rPr sz="1200" b="1">
                <a:solidFill>
                  <a:srgbClr val="ED145B"/>
                </a:solidFill>
                <a:latin typeface="Calibri"/>
              </a:rPr>
              <a:t>Trade-off  </a:t>
            </a:r>
            <a:r>
              <a:rPr sz="1200" b="0">
                <a:solidFill>
                  <a:srgbClr val="555555"/>
                </a:solidFill>
                <a:latin typeface="Calibri"/>
              </a:rPr>
              <a:t>Custo e complexidade de transformação em troca de simplicidade a jusante.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19" y="1783080"/>
            <a:ext cx="3474720" cy="434340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321040" y="2057400"/>
            <a:ext cx="502920" cy="502920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06840" y="2121408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>
                <a:solidFill>
                  <a:srgbClr val="1A1A1A"/>
                </a:solidFill>
                <a:latin typeface="Calibri"/>
              </a:rPr>
              <a:t>Gold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880360"/>
            <a:ext cx="29260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Star schema (dimensão e fato) e marts prontos, particionados por ano.</a:t>
            </a:r>
          </a:p>
          <a:p>
            <a:pPr algn="l">
              <a:spcAft>
                <a:spcPts val="1200"/>
              </a:spcAft>
            </a:pPr>
            <a:r>
              <a:rPr sz="1200" b="1">
                <a:solidFill>
                  <a:srgbClr val="ED145B"/>
                </a:solidFill>
                <a:latin typeface="Calibri"/>
              </a:rPr>
              <a:t>Por quê  </a:t>
            </a:r>
            <a:r>
              <a:rPr sz="1200" b="0">
                <a:solidFill>
                  <a:srgbClr val="555555"/>
                </a:solidFill>
                <a:latin typeface="Calibri"/>
              </a:rPr>
              <a:t>Desnormaliza para consulta rápida e leitura direta por BI e ML.</a:t>
            </a:r>
          </a:p>
          <a:p>
            <a:pPr algn="l">
              <a:spcAft>
                <a:spcPts val="1200"/>
              </a:spcAft>
            </a:pPr>
            <a:r>
              <a:rPr sz="1200" b="1">
                <a:solidFill>
                  <a:srgbClr val="ED145B"/>
                </a:solidFill>
                <a:latin typeface="Calibri"/>
              </a:rPr>
              <a:t>Trade-off  </a:t>
            </a:r>
            <a:r>
              <a:rPr sz="1200" b="0">
                <a:solidFill>
                  <a:srgbClr val="555555"/>
                </a:solidFill>
                <a:latin typeface="Calibri"/>
              </a:rPr>
              <a:t>Duplicação e pré-cálculo em troca de performance de consulta.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Pipeline de Alfabetização  ·  Tech Challenge Fase 2  ·  MBA AI Scientist FIAP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55664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ED145B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D145B"/>
                </a:solidFill>
                <a:latin typeface="Calibri"/>
              </a:rPr>
              <a:t>GOVERNANÇA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Calibri"/>
              </a:rPr>
              <a:t>Gate de qualidade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63040"/>
            <a:ext cx="118872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ate_qual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28624"/>
            <a:ext cx="7406640" cy="371515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92440" y="178308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A1A1A"/>
                </a:solidFill>
                <a:latin typeface="Calibri"/>
              </a:rPr>
              <a:t>Trade-offs</a:t>
            </a:r>
          </a:p>
        </p:txBody>
      </p:sp>
      <p:sp>
        <p:nvSpPr>
          <p:cNvPr id="8" name="Rectangle 7"/>
          <p:cNvSpPr/>
          <p:nvPr/>
        </p:nvSpPr>
        <p:spPr>
          <a:xfrm>
            <a:off x="8110727" y="2212848"/>
            <a:ext cx="91440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92440" y="2514600"/>
            <a:ext cx="36118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D145B"/>
                </a:solidFill>
                <a:latin typeface="Calibri"/>
              </a:rPr>
              <a:t>Crítica x aviso.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Uma falha crítica barra a promoção; um aviso registra a métrica e segue. Rigor sem travar por qualquer anomalia.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3749039"/>
            <a:ext cx="36118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D145B"/>
                </a:solidFill>
                <a:latin typeface="Calibri"/>
              </a:rPr>
              <a:t>Custo x risco.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Rodar as 11 checagens custa alguns segundos, barato perto do risco de um número errado chegar a um dashboard público.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4983479"/>
            <a:ext cx="36118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D145B"/>
                </a:solidFill>
                <a:latin typeface="Calibri"/>
              </a:rPr>
              <a:t>Onde roda.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Entre Silver e Gold e também sobre a Gold, como última linha antes do consumo.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Pipeline de Alfabetização  ·  Tech Challenge Fase 2  ·  MBA AI Scientist FIAP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55664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ED145B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D145B"/>
                </a:solidFill>
                <a:latin typeface="Calibri"/>
              </a:rPr>
              <a:t>OPERAÇÃO E CUSTO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Calibri"/>
              </a:rPr>
              <a:t>Custo, monitoramento e trade-offs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63040"/>
            <a:ext cx="118872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555555"/>
                </a:solidFill>
                <a:latin typeface="Calibri"/>
              </a:rPr>
              <a:t>Serverless de ponta a ponta e observabilidade por CloudWatch e SNS. Abaixo, as escolhas que puxam o custo para baixo.</a:t>
            </a:r>
          </a:p>
        </p:txBody>
      </p:sp>
      <p:pic>
        <p:nvPicPr>
          <p:cNvPr id="7" name="Picture 6" descr="finops_servic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927" y="2148840"/>
            <a:ext cx="7863840" cy="773448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3246120"/>
          <a:ext cx="10908792" cy="29260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17520"/>
                <a:gridCol w="2743200"/>
                <a:gridCol w="5148072"/>
              </a:tblGrid>
              <a:tr h="418011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Escolha</a:t>
                      </a:r>
                    </a:p>
                  </a:txBody>
                  <a:tcPr marL="73152" marR="54864" marT="27432" marB="27432" anchor="ctr">
                    <a:solidFill>
                      <a:srgbClr val="ED145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Alternativa</a:t>
                      </a:r>
                    </a:p>
                  </a:txBody>
                  <a:tcPr marL="73152" marR="54864" marT="27432" marB="27432" anchor="ctr">
                    <a:solidFill>
                      <a:srgbClr val="ED145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Por que reduz custo</a:t>
                      </a:r>
                    </a:p>
                  </a:txBody>
                  <a:tcPr marL="73152" marR="54864" marT="27432" marB="27432" anchor="ctr">
                    <a:solidFill>
                      <a:srgbClr val="ED145B"/>
                    </a:solidFill>
                  </a:tcPr>
                </a:tc>
              </a:tr>
              <a:tr h="418011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Calibri"/>
                        </a:rPr>
                        <a:t>Step Functions + EventBridge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MWAA (Airflow gerenciado)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Serverless por execução; MWAA cobra um ambiente sempre de pé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Calibri"/>
                        </a:rPr>
                        <a:t>Parquet particionado</a:t>
                      </a:r>
                    </a:p>
                  </a:txBody>
                  <a:tcPr marL="73152" marR="54864" marT="27432" marB="27432" anchor="ctr">
                    <a:solidFill>
                      <a:srgbClr val="F4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CSV / JSON</a:t>
                      </a:r>
                    </a:p>
                  </a:txBody>
                  <a:tcPr marL="73152" marR="54864" marT="27432" marB="27432" anchor="ctr">
                    <a:solidFill>
                      <a:srgbClr val="F4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Colunar e comprimido; Athena cobra por byte lido, com partition pruning</a:t>
                      </a:r>
                    </a:p>
                  </a:txBody>
                  <a:tcPr marL="73152" marR="54864" marT="27432" marB="27432" anchor="ctr">
                    <a:solidFill>
                      <a:srgbClr val="F4F4F6"/>
                    </a:solidFill>
                  </a:tcPr>
                </a:tc>
              </a:tr>
              <a:tr h="418011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Calibri"/>
                        </a:rPr>
                        <a:t>Kinesis on-demand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Shards provisionados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Escala sozinho e cobra pelo que passa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Calibri"/>
                        </a:rPr>
                        <a:t>Ciclo de vida no S3</a:t>
                      </a:r>
                    </a:p>
                  </a:txBody>
                  <a:tcPr marL="73152" marR="54864" marT="27432" marB="27432" anchor="ctr">
                    <a:solidFill>
                      <a:srgbClr val="F4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Tudo em Standard</a:t>
                      </a:r>
                    </a:p>
                  </a:txBody>
                  <a:tcPr marL="73152" marR="54864" marT="27432" marB="27432" anchor="ctr">
                    <a:solidFill>
                      <a:srgbClr val="F4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Bronze frio migra: Standard-IA aos 30 dias, Glacier aos 120</a:t>
                      </a:r>
                    </a:p>
                  </a:txBody>
                  <a:tcPr marL="73152" marR="54864" marT="27432" marB="27432" anchor="ctr">
                    <a:solidFill>
                      <a:srgbClr val="F4F4F6"/>
                    </a:solidFill>
                  </a:tcPr>
                </a:tc>
              </a:tr>
              <a:tr h="418011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Calibri"/>
                        </a:rPr>
                        <a:t>Glue G.1X, 2 workers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Cluster grande fixo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Dimensionado para o volume; cresce com o dado, sem custo fixo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1801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Calibri"/>
                        </a:rPr>
                        <a:t>Teto de bytes no Athena</a:t>
                      </a:r>
                    </a:p>
                  </a:txBody>
                  <a:tcPr marL="73152" marR="54864" marT="27432" marB="27432" anchor="ctr">
                    <a:solidFill>
                      <a:srgbClr val="F4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Sem limite de leitura</a:t>
                      </a:r>
                    </a:p>
                  </a:txBody>
                  <a:tcPr marL="73152" marR="54864" marT="27432" marB="27432" anchor="ctr">
                    <a:solidFill>
                      <a:srgbClr val="F4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Barra query cara antes de virar gasto</a:t>
                      </a:r>
                    </a:p>
                  </a:txBody>
                  <a:tcPr marL="73152" marR="54864" marT="27432" marB="27432" anchor="ctr">
                    <a:solidFill>
                      <a:srgbClr val="F4F4F6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Pipeline de Alfabetização  ·  Tech Challenge Fase 2  ·  MBA AI Scientist FIAP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455664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ED145B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D145B"/>
                </a:solidFill>
                <a:latin typeface="Calibri"/>
              </a:rPr>
              <a:t>EVIDÊNCIA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Calibri"/>
              </a:rPr>
              <a:t>Rodou em escala real, com custo controlado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63040"/>
            <a:ext cx="118872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4892040" cy="123444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69164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300" b="1">
                <a:solidFill>
                  <a:srgbClr val="ED145B"/>
                </a:solidFill>
                <a:latin typeface="Calibri"/>
              </a:rPr>
              <a:t>5.571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040" y="1874519"/>
            <a:ext cx="27432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Calibri"/>
              </a:rPr>
              <a:t>municípios e 27 UFs, território real da API pública do IBGE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246120"/>
            <a:ext cx="4892040" cy="123444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246120"/>
            <a:ext cx="169164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300" b="1">
                <a:solidFill>
                  <a:srgbClr val="ED145B"/>
                </a:solidFill>
                <a:latin typeface="Calibri"/>
              </a:rPr>
              <a:t>11/11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3246120"/>
            <a:ext cx="27432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Calibri"/>
              </a:rPr>
              <a:t>checagens do gate de qualidade aprovadas na execução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617720"/>
            <a:ext cx="4892040" cy="123444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617720"/>
            <a:ext cx="169164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300" b="1">
                <a:solidFill>
                  <a:srgbClr val="ED145B"/>
                </a:solidFill>
                <a:latin typeface="Calibri"/>
              </a:rPr>
              <a:t>R$ 0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6040" y="4617720"/>
            <a:ext cx="27432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Calibri"/>
              </a:rPr>
              <a:t>leitura da fonte no BigQuery, dentro da franquia de 1 TB/mês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1828800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Indicador por região em 2025, dos 5.571 municípios (mart da Gold)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035040" y="2286000"/>
          <a:ext cx="5532120" cy="33832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48840"/>
                <a:gridCol w="1783080"/>
                <a:gridCol w="1600200"/>
              </a:tblGrid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Região</a:t>
                      </a:r>
                    </a:p>
                  </a:txBody>
                  <a:tcPr marL="91440" marT="18288" marB="18288" anchor="ctr">
                    <a:solidFill>
                      <a:srgbClr val="ED14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Indicador médio</a:t>
                      </a:r>
                    </a:p>
                  </a:txBody>
                  <a:tcPr marL="91440" marT="18288" marB="18288" anchor="ctr">
                    <a:solidFill>
                      <a:srgbClr val="ED14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Atingiram a meta</a:t>
                      </a:r>
                    </a:p>
                  </a:txBody>
                  <a:tcPr marL="91440" marT="18288" marB="18288" anchor="ctr">
                    <a:solidFill>
                      <a:srgbClr val="ED145B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A1A1A"/>
                          </a:solidFill>
                          <a:latin typeface="Calibri"/>
                        </a:rPr>
                        <a:t>Sul</a:t>
                      </a:r>
                    </a:p>
                  </a:txBody>
                  <a:tcPr marL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80,2%</a:t>
                      </a:r>
                    </a:p>
                  </a:txBody>
                  <a:tcPr marL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37%</a:t>
                      </a:r>
                    </a:p>
                  </a:txBody>
                  <a:tcPr marL="91440" marT="18288" marB="18288" anchor="ctr">
                    <a:solidFill>
                      <a:srgbClr val="FFFFFF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A1A1A"/>
                          </a:solidFill>
                          <a:latin typeface="Calibri"/>
                        </a:rPr>
                        <a:t>Sudeste</a:t>
                      </a:r>
                    </a:p>
                  </a:txBody>
                  <a:tcPr marL="91440" marT="18288" marB="18288" anchor="ctr">
                    <a:solidFill>
                      <a:srgbClr val="F4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76,0%</a:t>
                      </a:r>
                    </a:p>
                  </a:txBody>
                  <a:tcPr marL="91440" marT="18288" marB="18288" anchor="ctr">
                    <a:solidFill>
                      <a:srgbClr val="F4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 marL="91440" marT="18288" marB="18288" anchor="ctr">
                    <a:solidFill>
                      <a:srgbClr val="F4F4F6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A1A1A"/>
                          </a:solidFill>
                          <a:latin typeface="Calibri"/>
                        </a:rPr>
                        <a:t>Centro-Oeste</a:t>
                      </a:r>
                    </a:p>
                  </a:txBody>
                  <a:tcPr marL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72,0%</a:t>
                      </a:r>
                    </a:p>
                  </a:txBody>
                  <a:tcPr marL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38%</a:t>
                      </a:r>
                    </a:p>
                  </a:txBody>
                  <a:tcPr marL="91440" marT="18288" marB="18288" anchor="ctr">
                    <a:solidFill>
                      <a:srgbClr val="FFFFFF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A1A1A"/>
                          </a:solidFill>
                          <a:latin typeface="Calibri"/>
                        </a:rPr>
                        <a:t>Nordeste</a:t>
                      </a:r>
                    </a:p>
                  </a:txBody>
                  <a:tcPr marL="91440" marT="18288" marB="18288" anchor="ctr">
                    <a:solidFill>
                      <a:srgbClr val="F4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61,1%</a:t>
                      </a:r>
                    </a:p>
                  </a:txBody>
                  <a:tcPr marL="91440" marT="18288" marB="18288" anchor="ctr">
                    <a:solidFill>
                      <a:srgbClr val="F4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32%</a:t>
                      </a:r>
                    </a:p>
                  </a:txBody>
                  <a:tcPr marL="91440" marT="18288" marB="18288" anchor="ctr">
                    <a:solidFill>
                      <a:srgbClr val="F4F4F6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A1A1A"/>
                          </a:solidFill>
                          <a:latin typeface="Calibri"/>
                        </a:rPr>
                        <a:t>Norte</a:t>
                      </a:r>
                    </a:p>
                  </a:txBody>
                  <a:tcPr marL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59,2%</a:t>
                      </a:r>
                    </a:p>
                  </a:txBody>
                  <a:tcPr marL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26%</a:t>
                      </a:r>
                    </a:p>
                  </a:txBody>
                  <a:tcPr marL="91440" marT="18288" marB="18288" anchor="ctr">
                    <a:solidFill>
                      <a:srgbClr val="FFFFFF"/>
                    </a:solidFill>
                  </a:tcPr>
                </a:tc>
              </a:tr>
              <a:tr h="48333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A1A1A"/>
                          </a:solidFill>
                          <a:latin typeface="Calibri"/>
                        </a:rPr>
                        <a:t>Brasil</a:t>
                      </a:r>
                    </a:p>
                  </a:txBody>
                  <a:tcPr marL="91440" marT="18288" marB="18288" anchor="ctr">
                    <a:solidFill>
                      <a:srgbClr val="FCE4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1A1A1A"/>
                          </a:solidFill>
                          <a:latin typeface="Calibri"/>
                        </a:rPr>
                        <a:t>70,4%</a:t>
                      </a:r>
                    </a:p>
                  </a:txBody>
                  <a:tcPr marL="91440" marT="18288" marB="18288" anchor="ctr">
                    <a:solidFill>
                      <a:srgbClr val="FCE4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1A1A1A"/>
                          </a:solidFill>
                          <a:latin typeface="Calibri"/>
                        </a:rPr>
                        <a:t>36%</a:t>
                      </a:r>
                    </a:p>
                  </a:txBody>
                  <a:tcPr marL="91440" marT="18288" marB="18288" anchor="ctr">
                    <a:solidFill>
                      <a:srgbClr val="FCE4EC"/>
                    </a:solidFill>
                  </a:tcPr>
                </a:tc>
              </a:tr>
            </a:tbl>
          </a:graphicData>
        </a:graphic>
      </p:graphicFrame>
      <p:sp>
        <p:nvSpPr>
          <p:cNvPr id="17" name="Rectangle 16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Pipeline de Alfabetização  ·  Tech Challenge Fase 2  ·  MBA AI Scientist FIAP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0" y="6455664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ED145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D145B"/>
                </a:solidFill>
                <a:latin typeface="Calibri"/>
              </a:rPr>
              <a:t>VALOR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Calibri"/>
              </a:rPr>
              <a:t>Valor e potencial de IA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63040"/>
            <a:ext cx="118872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555555"/>
                </a:solidFill>
                <a:latin typeface="Calibri"/>
              </a:rPr>
              <a:t>A Gold sai pronta para alimentar modelos e análises. Três frentes concretas: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286000"/>
            <a:ext cx="566928" cy="566928"/>
          </a:xfrm>
          <a:prstGeom prst="ellipse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240280"/>
            <a:ext cx="10149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1A1A"/>
                </a:solidFill>
                <a:latin typeface="Calibri"/>
              </a:rPr>
              <a:t>Antecipar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A1A1A"/>
                </a:solidFill>
                <a:latin typeface="Calibri"/>
              </a:rPr>
              <a:t>Prever quais municípios tendem a ficar abaixo da meta e agir antes do resultado consolidado.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ED145B"/>
                </a:solidFill>
                <a:latin typeface="Calibri"/>
              </a:rPr>
              <a:t>Na Gold  </a:t>
            </a:r>
            <a:r>
              <a:rPr sz="1200" b="0">
                <a:solidFill>
                  <a:srgbClr val="555555"/>
                </a:solidFill>
                <a:latin typeface="Calibri"/>
              </a:rPr>
              <a:t>Insumo: fato por município (indicador_pct, gap_meta_pp, atingiu_meta) mais enriquecimento socioeconômico como base de treino.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584448"/>
            <a:ext cx="566928" cy="566928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3538728"/>
            <a:ext cx="10149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1A1A"/>
                </a:solidFill>
                <a:latin typeface="Calibri"/>
              </a:rPr>
              <a:t>Enxergar desigualdade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A1A1A"/>
                </a:solidFill>
                <a:latin typeface="Calibri"/>
              </a:rPr>
              <a:t>Comparar regiões e redes e identificar grupos em maior vulnerabilidade educacional.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ED145B"/>
                </a:solidFill>
                <a:latin typeface="Calibri"/>
              </a:rPr>
              <a:t>Na Gold  </a:t>
            </a:r>
            <a:r>
              <a:rPr sz="1200" b="0">
                <a:solidFill>
                  <a:srgbClr val="555555"/>
                </a:solidFill>
                <a:latin typeface="Calibri"/>
              </a:rPr>
              <a:t>Insumo: clusterização sobre indicador, região, rede e distância da meta para achar padrões.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4882896"/>
            <a:ext cx="566928" cy="566928"/>
          </a:xfrm>
          <a:prstGeom prst="ellipse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4837176"/>
            <a:ext cx="10149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1A1A"/>
                </a:solidFill>
                <a:latin typeface="Calibri"/>
              </a:rPr>
              <a:t>Decidir com dados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A1A1A"/>
                </a:solidFill>
                <a:latin typeface="Calibri"/>
              </a:rPr>
              <a:t>Priorizar recurso onde há maior distância da meta e medir o efeito das ações no tempo.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ED145B"/>
                </a:solidFill>
                <a:latin typeface="Calibri"/>
              </a:rPr>
              <a:t>Na Gold  </a:t>
            </a:r>
            <a:r>
              <a:rPr sz="1200" b="0">
                <a:solidFill>
                  <a:srgbClr val="555555"/>
                </a:solidFill>
                <a:latin typeface="Calibri"/>
              </a:rPr>
              <a:t>Insumo: comparação meta vs resultado por UF e município e a evolução temporal ano a ano.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Pipeline de Alfabetização  ·  Tech Challenge Fase 2  ·  MBA AI Scientist FIAP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0" y="6455664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ED145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86968" y="2286000"/>
            <a:ext cx="137160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560320"/>
            <a:ext cx="105156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3400" b="1">
                <a:solidFill>
                  <a:srgbClr val="1A1A1A"/>
                </a:solidFill>
                <a:latin typeface="Calibri"/>
              </a:rPr>
              <a:t>Dados públicos viram informação acionável</a:t>
            </a:r>
          </a:p>
          <a:p>
            <a:pPr algn="l">
              <a:spcAft>
                <a:spcPts val="1400"/>
              </a:spcAft>
            </a:pPr>
            <a:r>
              <a:rPr sz="1800" b="0">
                <a:solidFill>
                  <a:srgbClr val="555555"/>
                </a:solidFill>
                <a:latin typeface="Calibri"/>
              </a:rPr>
              <a:t>Uma pipeline moderna, barata e confiável, que transforma o indicador de alfabetização em apoio à política pública e já abre a porta para inteligência artificial.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4864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ED145B"/>
                </a:solidFill>
                <a:latin typeface="Calibri"/>
              </a:rPr>
              <a:t>Obrigado.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